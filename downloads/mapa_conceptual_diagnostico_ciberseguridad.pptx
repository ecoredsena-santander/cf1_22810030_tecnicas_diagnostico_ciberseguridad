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801600" cy="16002000"/>
  <p:notesSz cx="16002000" cy="12801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780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682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upo 162">
            <a:extLst>
              <a:ext uri="{FF2B5EF4-FFF2-40B4-BE49-F238E27FC236}">
                <a16:creationId xmlns:a16="http://schemas.microsoft.com/office/drawing/2014/main" id="{9F4BCBE9-2F5E-12F2-8F75-B7BDC7BA4038}"/>
              </a:ext>
            </a:extLst>
          </p:cNvPr>
          <p:cNvGrpSpPr/>
          <p:nvPr/>
        </p:nvGrpSpPr>
        <p:grpSpPr>
          <a:xfrm>
            <a:off x="164592" y="109728"/>
            <a:ext cx="12161520" cy="13194792"/>
            <a:chOff x="164592" y="109728"/>
            <a:chExt cx="12161520" cy="13194792"/>
          </a:xfrm>
        </p:grpSpPr>
        <p:sp>
          <p:nvSpPr>
            <p:cNvPr id="2" name="Shape 0"/>
            <p:cNvSpPr/>
            <p:nvPr/>
          </p:nvSpPr>
          <p:spPr>
            <a:xfrm>
              <a:off x="6400800" y="1527048"/>
              <a:ext cx="0" cy="438912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" name="Shape 1"/>
            <p:cNvSpPr/>
            <p:nvPr/>
          </p:nvSpPr>
          <p:spPr>
            <a:xfrm>
              <a:off x="850392" y="1965960"/>
              <a:ext cx="10767060" cy="0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Shape 2"/>
            <p:cNvSpPr/>
            <p:nvPr/>
          </p:nvSpPr>
          <p:spPr>
            <a:xfrm>
              <a:off x="850392" y="1965960"/>
              <a:ext cx="0" cy="429768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Shape 3"/>
            <p:cNvSpPr/>
            <p:nvPr/>
          </p:nvSpPr>
          <p:spPr>
            <a:xfrm>
              <a:off x="2359152" y="1965960"/>
              <a:ext cx="0" cy="429768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Shape 4"/>
            <p:cNvSpPr/>
            <p:nvPr/>
          </p:nvSpPr>
          <p:spPr>
            <a:xfrm>
              <a:off x="4119372" y="1965960"/>
              <a:ext cx="0" cy="429768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Shape 5"/>
            <p:cNvSpPr/>
            <p:nvPr/>
          </p:nvSpPr>
          <p:spPr>
            <a:xfrm>
              <a:off x="5719572" y="1965960"/>
              <a:ext cx="0" cy="429768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Shape 6"/>
            <p:cNvSpPr/>
            <p:nvPr/>
          </p:nvSpPr>
          <p:spPr>
            <a:xfrm>
              <a:off x="7068312" y="1965960"/>
              <a:ext cx="0" cy="429768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Shape 7"/>
            <p:cNvSpPr/>
            <p:nvPr/>
          </p:nvSpPr>
          <p:spPr>
            <a:xfrm>
              <a:off x="8622792" y="1965960"/>
              <a:ext cx="0" cy="429768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Shape 8"/>
            <p:cNvSpPr/>
            <p:nvPr/>
          </p:nvSpPr>
          <p:spPr>
            <a:xfrm>
              <a:off x="10131552" y="1965960"/>
              <a:ext cx="0" cy="429768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Shape 9"/>
            <p:cNvSpPr/>
            <p:nvPr/>
          </p:nvSpPr>
          <p:spPr>
            <a:xfrm>
              <a:off x="11617452" y="1965960"/>
              <a:ext cx="0" cy="429768"/>
            </a:xfrm>
            <a:prstGeom prst="line">
              <a:avLst/>
            </a:prstGeom>
            <a:noFill/>
            <a:ln w="17145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Shape 10"/>
            <p:cNvSpPr/>
            <p:nvPr/>
          </p:nvSpPr>
          <p:spPr>
            <a:xfrm>
              <a:off x="310896" y="3630168"/>
              <a:ext cx="0" cy="6030468"/>
            </a:xfrm>
            <a:prstGeom prst="line">
              <a:avLst/>
            </a:prstGeom>
            <a:noFill/>
            <a:ln w="1270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Shape 11"/>
            <p:cNvSpPr/>
            <p:nvPr/>
          </p:nvSpPr>
          <p:spPr>
            <a:xfrm>
              <a:off x="310896" y="44028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Shape 12"/>
            <p:cNvSpPr/>
            <p:nvPr/>
          </p:nvSpPr>
          <p:spPr>
            <a:xfrm>
              <a:off x="310896" y="545439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Shape 13"/>
            <p:cNvSpPr/>
            <p:nvPr/>
          </p:nvSpPr>
          <p:spPr>
            <a:xfrm>
              <a:off x="310896" y="650595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Shape 14"/>
            <p:cNvSpPr/>
            <p:nvPr/>
          </p:nvSpPr>
          <p:spPr>
            <a:xfrm>
              <a:off x="310896" y="755751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Shape 15"/>
            <p:cNvSpPr/>
            <p:nvPr/>
          </p:nvSpPr>
          <p:spPr>
            <a:xfrm>
              <a:off x="310896" y="860907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Shape 16"/>
            <p:cNvSpPr/>
            <p:nvPr/>
          </p:nvSpPr>
          <p:spPr>
            <a:xfrm>
              <a:off x="310896" y="96606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Shape 17"/>
            <p:cNvSpPr/>
            <p:nvPr/>
          </p:nvSpPr>
          <p:spPr>
            <a:xfrm>
              <a:off x="1819656" y="3630168"/>
              <a:ext cx="0" cy="6030468"/>
            </a:xfrm>
            <a:prstGeom prst="line">
              <a:avLst/>
            </a:prstGeom>
            <a:noFill/>
            <a:ln w="1270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Shape 18"/>
            <p:cNvSpPr/>
            <p:nvPr/>
          </p:nvSpPr>
          <p:spPr>
            <a:xfrm>
              <a:off x="1819656" y="44028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Shape 19"/>
            <p:cNvSpPr/>
            <p:nvPr/>
          </p:nvSpPr>
          <p:spPr>
            <a:xfrm>
              <a:off x="1819656" y="545439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Shape 20"/>
            <p:cNvSpPr/>
            <p:nvPr/>
          </p:nvSpPr>
          <p:spPr>
            <a:xfrm>
              <a:off x="1819656" y="650595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Shape 21"/>
            <p:cNvSpPr/>
            <p:nvPr/>
          </p:nvSpPr>
          <p:spPr>
            <a:xfrm>
              <a:off x="1819656" y="755751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Shape 22"/>
            <p:cNvSpPr/>
            <p:nvPr/>
          </p:nvSpPr>
          <p:spPr>
            <a:xfrm>
              <a:off x="1819656" y="860907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Shape 23"/>
            <p:cNvSpPr/>
            <p:nvPr/>
          </p:nvSpPr>
          <p:spPr>
            <a:xfrm>
              <a:off x="1819656" y="96606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Shape 24"/>
            <p:cNvSpPr/>
            <p:nvPr/>
          </p:nvSpPr>
          <p:spPr>
            <a:xfrm>
              <a:off x="3328416" y="3630168"/>
              <a:ext cx="0" cy="7987284"/>
            </a:xfrm>
            <a:prstGeom prst="line">
              <a:avLst/>
            </a:prstGeom>
            <a:noFill/>
            <a:ln w="1270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Shape 25"/>
            <p:cNvSpPr/>
            <p:nvPr/>
          </p:nvSpPr>
          <p:spPr>
            <a:xfrm>
              <a:off x="3328416" y="44028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Shape 26"/>
            <p:cNvSpPr/>
            <p:nvPr/>
          </p:nvSpPr>
          <p:spPr>
            <a:xfrm>
              <a:off x="3328416" y="545439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Shape 27"/>
            <p:cNvSpPr/>
            <p:nvPr/>
          </p:nvSpPr>
          <p:spPr>
            <a:xfrm>
              <a:off x="3666744" y="642366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Shape 28"/>
            <p:cNvSpPr/>
            <p:nvPr/>
          </p:nvSpPr>
          <p:spPr>
            <a:xfrm>
              <a:off x="3666744" y="706374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Shape 29"/>
            <p:cNvSpPr/>
            <p:nvPr/>
          </p:nvSpPr>
          <p:spPr>
            <a:xfrm>
              <a:off x="3666744" y="770382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Shape 30"/>
            <p:cNvSpPr/>
            <p:nvPr/>
          </p:nvSpPr>
          <p:spPr>
            <a:xfrm>
              <a:off x="3666744" y="834390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Shape 31"/>
            <p:cNvSpPr/>
            <p:nvPr/>
          </p:nvSpPr>
          <p:spPr>
            <a:xfrm>
              <a:off x="3328416" y="9176004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4" name="Shape 32"/>
            <p:cNvSpPr/>
            <p:nvPr/>
          </p:nvSpPr>
          <p:spPr>
            <a:xfrm>
              <a:off x="3666744" y="10145268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Shape 33"/>
            <p:cNvSpPr/>
            <p:nvPr/>
          </p:nvSpPr>
          <p:spPr>
            <a:xfrm>
              <a:off x="3666744" y="10785348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6" name="Shape 34"/>
            <p:cNvSpPr/>
            <p:nvPr/>
          </p:nvSpPr>
          <p:spPr>
            <a:xfrm>
              <a:off x="3328416" y="11617452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Shape 35"/>
            <p:cNvSpPr/>
            <p:nvPr/>
          </p:nvSpPr>
          <p:spPr>
            <a:xfrm>
              <a:off x="3666744" y="5454396"/>
              <a:ext cx="0" cy="2889504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8" name="Shape 36"/>
            <p:cNvSpPr/>
            <p:nvPr/>
          </p:nvSpPr>
          <p:spPr>
            <a:xfrm>
              <a:off x="3666744" y="642366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Shape 37"/>
            <p:cNvSpPr/>
            <p:nvPr/>
          </p:nvSpPr>
          <p:spPr>
            <a:xfrm>
              <a:off x="3666744" y="706374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Shape 38"/>
            <p:cNvSpPr/>
            <p:nvPr/>
          </p:nvSpPr>
          <p:spPr>
            <a:xfrm>
              <a:off x="3666744" y="770382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Shape 39"/>
            <p:cNvSpPr/>
            <p:nvPr/>
          </p:nvSpPr>
          <p:spPr>
            <a:xfrm>
              <a:off x="3666744" y="834390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Shape 40"/>
            <p:cNvSpPr/>
            <p:nvPr/>
          </p:nvSpPr>
          <p:spPr>
            <a:xfrm>
              <a:off x="3666744" y="9176004"/>
              <a:ext cx="0" cy="1609344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3" name="Shape 41"/>
            <p:cNvSpPr/>
            <p:nvPr/>
          </p:nvSpPr>
          <p:spPr>
            <a:xfrm>
              <a:off x="3666744" y="10145268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Shape 42"/>
            <p:cNvSpPr/>
            <p:nvPr/>
          </p:nvSpPr>
          <p:spPr>
            <a:xfrm>
              <a:off x="3666744" y="10785348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5" name="Shape 43"/>
            <p:cNvSpPr/>
            <p:nvPr/>
          </p:nvSpPr>
          <p:spPr>
            <a:xfrm>
              <a:off x="5340096" y="3630168"/>
              <a:ext cx="0" cy="6030468"/>
            </a:xfrm>
            <a:prstGeom prst="line">
              <a:avLst/>
            </a:prstGeom>
            <a:noFill/>
            <a:ln w="1270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6" name="Shape 44"/>
            <p:cNvSpPr/>
            <p:nvPr/>
          </p:nvSpPr>
          <p:spPr>
            <a:xfrm>
              <a:off x="5340096" y="44028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7" name="Shape 45"/>
            <p:cNvSpPr/>
            <p:nvPr/>
          </p:nvSpPr>
          <p:spPr>
            <a:xfrm>
              <a:off x="5340096" y="545439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8" name="Shape 46"/>
            <p:cNvSpPr/>
            <p:nvPr/>
          </p:nvSpPr>
          <p:spPr>
            <a:xfrm>
              <a:off x="5340096" y="650595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9" name="Shape 47"/>
            <p:cNvSpPr/>
            <p:nvPr/>
          </p:nvSpPr>
          <p:spPr>
            <a:xfrm>
              <a:off x="5340096" y="755751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0" name="Shape 48"/>
            <p:cNvSpPr/>
            <p:nvPr/>
          </p:nvSpPr>
          <p:spPr>
            <a:xfrm>
              <a:off x="5340096" y="860907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1" name="Shape 49"/>
            <p:cNvSpPr/>
            <p:nvPr/>
          </p:nvSpPr>
          <p:spPr>
            <a:xfrm>
              <a:off x="5340096" y="96606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2" name="Shape 50"/>
            <p:cNvSpPr/>
            <p:nvPr/>
          </p:nvSpPr>
          <p:spPr>
            <a:xfrm>
              <a:off x="6528816" y="3630168"/>
              <a:ext cx="0" cy="6030468"/>
            </a:xfrm>
            <a:prstGeom prst="line">
              <a:avLst/>
            </a:prstGeom>
            <a:noFill/>
            <a:ln w="1270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3" name="Shape 51"/>
            <p:cNvSpPr/>
            <p:nvPr/>
          </p:nvSpPr>
          <p:spPr>
            <a:xfrm>
              <a:off x="6528816" y="44028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4" name="Shape 52"/>
            <p:cNvSpPr/>
            <p:nvPr/>
          </p:nvSpPr>
          <p:spPr>
            <a:xfrm>
              <a:off x="6528816" y="545439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5" name="Shape 53"/>
            <p:cNvSpPr/>
            <p:nvPr/>
          </p:nvSpPr>
          <p:spPr>
            <a:xfrm>
              <a:off x="6528816" y="650595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6" name="Shape 54"/>
            <p:cNvSpPr/>
            <p:nvPr/>
          </p:nvSpPr>
          <p:spPr>
            <a:xfrm>
              <a:off x="6528816" y="755751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7" name="Shape 55"/>
            <p:cNvSpPr/>
            <p:nvPr/>
          </p:nvSpPr>
          <p:spPr>
            <a:xfrm>
              <a:off x="6528816" y="860907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8" name="Shape 56"/>
            <p:cNvSpPr/>
            <p:nvPr/>
          </p:nvSpPr>
          <p:spPr>
            <a:xfrm>
              <a:off x="6528816" y="96606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9" name="Shape 57"/>
            <p:cNvSpPr/>
            <p:nvPr/>
          </p:nvSpPr>
          <p:spPr>
            <a:xfrm>
              <a:off x="8037576" y="3630168"/>
              <a:ext cx="0" cy="9340596"/>
            </a:xfrm>
            <a:prstGeom prst="line">
              <a:avLst/>
            </a:prstGeom>
            <a:noFill/>
            <a:ln w="1270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0" name="Shape 58"/>
            <p:cNvSpPr/>
            <p:nvPr/>
          </p:nvSpPr>
          <p:spPr>
            <a:xfrm>
              <a:off x="8037576" y="44028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Shape 59"/>
            <p:cNvSpPr/>
            <p:nvPr/>
          </p:nvSpPr>
          <p:spPr>
            <a:xfrm>
              <a:off x="8375904" y="537210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Shape 60"/>
            <p:cNvSpPr/>
            <p:nvPr/>
          </p:nvSpPr>
          <p:spPr>
            <a:xfrm>
              <a:off x="8375904" y="601218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3" name="Shape 61"/>
            <p:cNvSpPr/>
            <p:nvPr/>
          </p:nvSpPr>
          <p:spPr>
            <a:xfrm>
              <a:off x="8375904" y="665226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4" name="Shape 62"/>
            <p:cNvSpPr/>
            <p:nvPr/>
          </p:nvSpPr>
          <p:spPr>
            <a:xfrm>
              <a:off x="8375904" y="729234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5" name="Shape 63"/>
            <p:cNvSpPr/>
            <p:nvPr/>
          </p:nvSpPr>
          <p:spPr>
            <a:xfrm>
              <a:off x="8375904" y="793242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6" name="Shape 64"/>
            <p:cNvSpPr/>
            <p:nvPr/>
          </p:nvSpPr>
          <p:spPr>
            <a:xfrm>
              <a:off x="8037576" y="8764524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7" name="Shape 65"/>
            <p:cNvSpPr/>
            <p:nvPr/>
          </p:nvSpPr>
          <p:spPr>
            <a:xfrm>
              <a:off x="8037576" y="9816084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8" name="Shape 66"/>
            <p:cNvSpPr/>
            <p:nvPr/>
          </p:nvSpPr>
          <p:spPr>
            <a:xfrm>
              <a:off x="8037576" y="10867644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9" name="Shape 67"/>
            <p:cNvSpPr/>
            <p:nvPr/>
          </p:nvSpPr>
          <p:spPr>
            <a:xfrm>
              <a:off x="8037576" y="11919204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0" name="Shape 68"/>
            <p:cNvSpPr/>
            <p:nvPr/>
          </p:nvSpPr>
          <p:spPr>
            <a:xfrm>
              <a:off x="8037576" y="12970764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1" name="Shape 69"/>
            <p:cNvSpPr/>
            <p:nvPr/>
          </p:nvSpPr>
          <p:spPr>
            <a:xfrm>
              <a:off x="8375904" y="4402836"/>
              <a:ext cx="0" cy="3529584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2" name="Shape 70"/>
            <p:cNvSpPr/>
            <p:nvPr/>
          </p:nvSpPr>
          <p:spPr>
            <a:xfrm>
              <a:off x="8375904" y="537210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3" name="Shape 71"/>
            <p:cNvSpPr/>
            <p:nvPr/>
          </p:nvSpPr>
          <p:spPr>
            <a:xfrm>
              <a:off x="8375904" y="601218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4" name="Shape 72"/>
            <p:cNvSpPr/>
            <p:nvPr/>
          </p:nvSpPr>
          <p:spPr>
            <a:xfrm>
              <a:off x="8375904" y="665226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5" name="Shape 73"/>
            <p:cNvSpPr/>
            <p:nvPr/>
          </p:nvSpPr>
          <p:spPr>
            <a:xfrm>
              <a:off x="8375904" y="729234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6" name="Shape 74"/>
            <p:cNvSpPr/>
            <p:nvPr/>
          </p:nvSpPr>
          <p:spPr>
            <a:xfrm>
              <a:off x="8375904" y="7932420"/>
              <a:ext cx="118872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7" name="Shape 75"/>
            <p:cNvSpPr/>
            <p:nvPr/>
          </p:nvSpPr>
          <p:spPr>
            <a:xfrm>
              <a:off x="9637776" y="3630168"/>
              <a:ext cx="0" cy="7082028"/>
            </a:xfrm>
            <a:prstGeom prst="line">
              <a:avLst/>
            </a:prstGeom>
            <a:noFill/>
            <a:ln w="1270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8" name="Shape 76"/>
            <p:cNvSpPr/>
            <p:nvPr/>
          </p:nvSpPr>
          <p:spPr>
            <a:xfrm>
              <a:off x="9637776" y="44028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9" name="Shape 77"/>
            <p:cNvSpPr/>
            <p:nvPr/>
          </p:nvSpPr>
          <p:spPr>
            <a:xfrm>
              <a:off x="9637776" y="545439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0" name="Shape 78"/>
            <p:cNvSpPr/>
            <p:nvPr/>
          </p:nvSpPr>
          <p:spPr>
            <a:xfrm>
              <a:off x="9637776" y="650595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1" name="Shape 79"/>
            <p:cNvSpPr/>
            <p:nvPr/>
          </p:nvSpPr>
          <p:spPr>
            <a:xfrm>
              <a:off x="9637776" y="755751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2" name="Shape 80"/>
            <p:cNvSpPr/>
            <p:nvPr/>
          </p:nvSpPr>
          <p:spPr>
            <a:xfrm>
              <a:off x="9637776" y="860907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3" name="Shape 81"/>
            <p:cNvSpPr/>
            <p:nvPr/>
          </p:nvSpPr>
          <p:spPr>
            <a:xfrm>
              <a:off x="9637776" y="96606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4" name="Shape 82"/>
            <p:cNvSpPr/>
            <p:nvPr/>
          </p:nvSpPr>
          <p:spPr>
            <a:xfrm>
              <a:off x="9637776" y="1071219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5" name="Shape 83"/>
            <p:cNvSpPr/>
            <p:nvPr/>
          </p:nvSpPr>
          <p:spPr>
            <a:xfrm>
              <a:off x="11055096" y="3630168"/>
              <a:ext cx="0" cy="8133588"/>
            </a:xfrm>
            <a:prstGeom prst="line">
              <a:avLst/>
            </a:prstGeom>
            <a:noFill/>
            <a:ln w="1270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6" name="Shape 84"/>
            <p:cNvSpPr/>
            <p:nvPr/>
          </p:nvSpPr>
          <p:spPr>
            <a:xfrm>
              <a:off x="11055096" y="44028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7" name="Shape 85"/>
            <p:cNvSpPr/>
            <p:nvPr/>
          </p:nvSpPr>
          <p:spPr>
            <a:xfrm>
              <a:off x="11055096" y="545439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8" name="Shape 86"/>
            <p:cNvSpPr/>
            <p:nvPr/>
          </p:nvSpPr>
          <p:spPr>
            <a:xfrm>
              <a:off x="11055096" y="650595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9" name="Shape 87"/>
            <p:cNvSpPr/>
            <p:nvPr/>
          </p:nvSpPr>
          <p:spPr>
            <a:xfrm>
              <a:off x="11055096" y="755751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0" name="Shape 88"/>
            <p:cNvSpPr/>
            <p:nvPr/>
          </p:nvSpPr>
          <p:spPr>
            <a:xfrm>
              <a:off x="11055096" y="860907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1" name="Shape 89"/>
            <p:cNvSpPr/>
            <p:nvPr/>
          </p:nvSpPr>
          <p:spPr>
            <a:xfrm>
              <a:off x="11055096" y="966063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2" name="Shape 90"/>
            <p:cNvSpPr/>
            <p:nvPr/>
          </p:nvSpPr>
          <p:spPr>
            <a:xfrm>
              <a:off x="11055096" y="1071219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Shape 91"/>
            <p:cNvSpPr/>
            <p:nvPr/>
          </p:nvSpPr>
          <p:spPr>
            <a:xfrm>
              <a:off x="11055096" y="11763756"/>
              <a:ext cx="146304" cy="0"/>
            </a:xfrm>
            <a:prstGeom prst="line">
              <a:avLst/>
            </a:prstGeom>
            <a:noFill/>
            <a:ln w="11430">
              <a:solidFill>
                <a:srgbClr val="00559E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4" name="Text 92"/>
            <p:cNvSpPr/>
            <p:nvPr/>
          </p:nvSpPr>
          <p:spPr>
            <a:xfrm>
              <a:off x="2057400" y="109728"/>
              <a:ext cx="8686800" cy="1417320"/>
            </a:xfrm>
            <a:prstGeom prst="roundRect">
              <a:avLst>
                <a:gd name="adj" fmla="val 4516"/>
              </a:avLst>
            </a:prstGeom>
            <a:solidFill>
              <a:srgbClr val="003366"/>
            </a:solidFill>
            <a:ln w="19050">
              <a:solidFill>
                <a:srgbClr val="00336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Diagnóstico de vulnerabilidades y</a:t>
              </a:r>
              <a:endParaRPr lang="en-US" sz="2600" dirty="0"/>
            </a:p>
            <a:p>
              <a:pPr marL="0" indent="0" algn="ctr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amenazas de ciberseguridad</a:t>
              </a:r>
              <a:endParaRPr lang="en-US" sz="2600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164592" y="2395728"/>
              <a:ext cx="1371600" cy="1234440"/>
            </a:xfrm>
            <a:prstGeom prst="roundRect">
              <a:avLst>
                <a:gd name="adj" fmla="val 5185"/>
              </a:avLst>
            </a:prstGeom>
            <a:solidFill>
              <a:srgbClr val="009A9A"/>
            </a:solidFill>
            <a:ln w="12700">
              <a:solidFill>
                <a:srgbClr val="008E8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1. Fundamentos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ciberseguridad</a:t>
              </a:r>
              <a:endParaRPr lang="en-US" sz="1020" dirty="0"/>
            </a:p>
          </p:txBody>
        </p:sp>
        <p:sp>
          <p:nvSpPr>
            <p:cNvPr id="96" name="Text 94"/>
            <p:cNvSpPr/>
            <p:nvPr/>
          </p:nvSpPr>
          <p:spPr>
            <a:xfrm>
              <a:off x="457200" y="406908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Seguridad de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 información</a:t>
              </a:r>
              <a:endParaRPr lang="en-US" sz="77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457200" y="512064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Seguridad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digital</a:t>
              </a:r>
              <a:endParaRPr lang="en-US" sz="770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457200" y="617220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Confidencialidad</a:t>
              </a:r>
              <a:endParaRPr lang="en-US" sz="770" dirty="0"/>
            </a:p>
          </p:txBody>
        </p:sp>
        <p:sp>
          <p:nvSpPr>
            <p:cNvPr id="99" name="Text 97"/>
            <p:cNvSpPr/>
            <p:nvPr/>
          </p:nvSpPr>
          <p:spPr>
            <a:xfrm>
              <a:off x="457200" y="722376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Integridad</a:t>
              </a:r>
              <a:endParaRPr lang="en-US" sz="77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457200" y="827532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Disponibilidad</a:t>
              </a:r>
              <a:endParaRPr lang="en-US" sz="770" dirty="0"/>
            </a:p>
          </p:txBody>
        </p:sp>
        <p:sp>
          <p:nvSpPr>
            <p:cNvPr id="101" name="Text 99"/>
            <p:cNvSpPr/>
            <p:nvPr/>
          </p:nvSpPr>
          <p:spPr>
            <a:xfrm>
              <a:off x="457200" y="932688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Privacidad</a:t>
              </a:r>
              <a:endParaRPr lang="en-US" sz="770" dirty="0"/>
            </a:p>
          </p:txBody>
        </p:sp>
        <p:sp>
          <p:nvSpPr>
            <p:cNvPr id="102" name="Text 100"/>
            <p:cNvSpPr/>
            <p:nvPr/>
          </p:nvSpPr>
          <p:spPr>
            <a:xfrm>
              <a:off x="1673352" y="2395728"/>
              <a:ext cx="1371600" cy="1234440"/>
            </a:xfrm>
            <a:prstGeom prst="roundRect">
              <a:avLst>
                <a:gd name="adj" fmla="val 5185"/>
              </a:avLst>
            </a:prstGeom>
            <a:solidFill>
              <a:srgbClr val="009A9A"/>
            </a:solidFill>
            <a:ln w="12700">
              <a:solidFill>
                <a:srgbClr val="008E8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2. Elementos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para interpretar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situaciones de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riesgo</a:t>
              </a:r>
              <a:endParaRPr lang="en-US" sz="1020" dirty="0"/>
            </a:p>
          </p:txBody>
        </p:sp>
        <p:sp>
          <p:nvSpPr>
            <p:cNvPr id="103" name="Text 101"/>
            <p:cNvSpPr/>
            <p:nvPr/>
          </p:nvSpPr>
          <p:spPr>
            <a:xfrm>
              <a:off x="1965960" y="406908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Vulnerabilidades</a:t>
              </a:r>
              <a:endParaRPr lang="en-US" sz="77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1965960" y="512064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Amenazas</a:t>
              </a:r>
              <a:endParaRPr lang="en-US" sz="77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1965960" y="617220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Riesgos</a:t>
              </a:r>
              <a:endParaRPr lang="en-US" sz="770" dirty="0"/>
            </a:p>
          </p:txBody>
        </p:sp>
        <p:sp>
          <p:nvSpPr>
            <p:cNvPr id="106" name="Text 104"/>
            <p:cNvSpPr/>
            <p:nvPr/>
          </p:nvSpPr>
          <p:spPr>
            <a:xfrm>
              <a:off x="1965960" y="722376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Contramedidas</a:t>
              </a:r>
              <a:endParaRPr lang="en-US" sz="77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1965960" y="827532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Eventos</a:t>
              </a:r>
              <a:endParaRPr lang="en-US" sz="770" dirty="0"/>
            </a:p>
          </p:txBody>
        </p:sp>
        <p:sp>
          <p:nvSpPr>
            <p:cNvPr id="108" name="Text 106"/>
            <p:cNvSpPr/>
            <p:nvPr/>
          </p:nvSpPr>
          <p:spPr>
            <a:xfrm>
              <a:off x="1965960" y="932688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Incidentes</a:t>
              </a:r>
              <a:endParaRPr lang="en-US" sz="77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3182112" y="2395728"/>
              <a:ext cx="1874520" cy="1234440"/>
            </a:xfrm>
            <a:prstGeom prst="roundRect">
              <a:avLst>
                <a:gd name="adj" fmla="val 5185"/>
              </a:avLst>
            </a:prstGeom>
            <a:solidFill>
              <a:srgbClr val="009A9A"/>
            </a:solidFill>
            <a:ln w="12700">
              <a:solidFill>
                <a:srgbClr val="008E8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3. Estrategias y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referentes para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orientar el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diagnóstico</a:t>
              </a:r>
              <a:endParaRPr lang="en-US" sz="1020" dirty="0"/>
            </a:p>
          </p:txBody>
        </p:sp>
        <p:sp>
          <p:nvSpPr>
            <p:cNvPr id="110" name="Text 108"/>
            <p:cNvSpPr/>
            <p:nvPr/>
          </p:nvSpPr>
          <p:spPr>
            <a:xfrm>
              <a:off x="3474720" y="4069080"/>
              <a:ext cx="15270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Técnicas de análisis</a:t>
              </a:r>
              <a:endParaRPr lang="en-US" sz="77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3474720" y="5120640"/>
              <a:ext cx="15270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Marcos de referencia</a:t>
              </a:r>
              <a:endParaRPr lang="en-US" sz="770" dirty="0"/>
            </a:p>
          </p:txBody>
        </p:sp>
        <p:sp>
          <p:nvSpPr>
            <p:cNvPr id="112" name="Text 110"/>
            <p:cNvSpPr/>
            <p:nvPr/>
          </p:nvSpPr>
          <p:spPr>
            <a:xfrm>
              <a:off x="3785616" y="6172200"/>
              <a:ext cx="120700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NIST Cybersecurity</a:t>
              </a:r>
              <a:endParaRPr lang="en-US" sz="670" dirty="0"/>
            </a:p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Framework</a:t>
              </a:r>
              <a:endParaRPr lang="en-US" sz="670" dirty="0"/>
            </a:p>
          </p:txBody>
        </p:sp>
        <p:sp>
          <p:nvSpPr>
            <p:cNvPr id="113" name="Text 111"/>
            <p:cNvSpPr/>
            <p:nvPr/>
          </p:nvSpPr>
          <p:spPr>
            <a:xfrm>
              <a:off x="3785616" y="6812280"/>
              <a:ext cx="120700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ISO/IEC 27001</a:t>
              </a:r>
              <a:endParaRPr lang="en-US" sz="670" dirty="0"/>
            </a:p>
          </p:txBody>
        </p:sp>
        <p:sp>
          <p:nvSpPr>
            <p:cNvPr id="114" name="Text 112"/>
            <p:cNvSpPr/>
            <p:nvPr/>
          </p:nvSpPr>
          <p:spPr>
            <a:xfrm>
              <a:off x="3785616" y="7452360"/>
              <a:ext cx="120700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OWASP</a:t>
              </a:r>
              <a:endParaRPr lang="en-US" sz="670" dirty="0"/>
            </a:p>
          </p:txBody>
        </p:sp>
        <p:sp>
          <p:nvSpPr>
            <p:cNvPr id="115" name="Text 113"/>
            <p:cNvSpPr/>
            <p:nvPr/>
          </p:nvSpPr>
          <p:spPr>
            <a:xfrm>
              <a:off x="3785616" y="8092440"/>
              <a:ext cx="120700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CIS Controls</a:t>
              </a:r>
              <a:endParaRPr lang="en-US" sz="670" dirty="0"/>
            </a:p>
          </p:txBody>
        </p:sp>
        <p:sp>
          <p:nvSpPr>
            <p:cNvPr id="116" name="Text 114"/>
            <p:cNvSpPr/>
            <p:nvPr/>
          </p:nvSpPr>
          <p:spPr>
            <a:xfrm>
              <a:off x="3474720" y="8842248"/>
              <a:ext cx="15270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Normativa colombiana</a:t>
              </a:r>
              <a:endParaRPr lang="en-US" sz="770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3785616" y="9893808"/>
              <a:ext cx="120700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Documento</a:t>
              </a:r>
              <a:endParaRPr lang="en-US" sz="670" dirty="0"/>
            </a:p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CONPES 3995</a:t>
              </a:r>
              <a:endParaRPr lang="en-US" sz="670" dirty="0"/>
            </a:p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2020</a:t>
              </a:r>
              <a:endParaRPr lang="en-US" sz="670" dirty="0"/>
            </a:p>
          </p:txBody>
        </p:sp>
        <p:sp>
          <p:nvSpPr>
            <p:cNvPr id="118" name="Text 116"/>
            <p:cNvSpPr/>
            <p:nvPr/>
          </p:nvSpPr>
          <p:spPr>
            <a:xfrm>
              <a:off x="3785616" y="10533888"/>
              <a:ext cx="120700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Decreto 338</a:t>
              </a:r>
              <a:endParaRPr lang="en-US" sz="670" dirty="0"/>
            </a:p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2022</a:t>
              </a:r>
              <a:endParaRPr lang="en-US" sz="670" dirty="0"/>
            </a:p>
          </p:txBody>
        </p:sp>
        <p:sp>
          <p:nvSpPr>
            <p:cNvPr id="119" name="Text 117"/>
            <p:cNvSpPr/>
            <p:nvPr/>
          </p:nvSpPr>
          <p:spPr>
            <a:xfrm>
              <a:off x="3474720" y="11283696"/>
              <a:ext cx="15270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Uso ético de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herramientas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tecnológicas</a:t>
              </a:r>
              <a:endParaRPr lang="en-US" sz="770" dirty="0"/>
            </a:p>
          </p:txBody>
        </p:sp>
        <p:sp>
          <p:nvSpPr>
            <p:cNvPr id="120" name="Text 118"/>
            <p:cNvSpPr/>
            <p:nvPr/>
          </p:nvSpPr>
          <p:spPr>
            <a:xfrm>
              <a:off x="5193792" y="2395728"/>
              <a:ext cx="1051560" cy="1234440"/>
            </a:xfrm>
            <a:prstGeom prst="roundRect">
              <a:avLst>
                <a:gd name="adj" fmla="val 6087"/>
              </a:avLst>
            </a:prstGeom>
            <a:solidFill>
              <a:srgbClr val="009A9A"/>
            </a:solidFill>
            <a:ln w="12700">
              <a:solidFill>
                <a:srgbClr val="008E8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4. Malware</a:t>
              </a:r>
              <a:endParaRPr lang="en-US" sz="1020" dirty="0"/>
            </a:p>
          </p:txBody>
        </p:sp>
        <p:sp>
          <p:nvSpPr>
            <p:cNvPr id="121" name="Text 119"/>
            <p:cNvSpPr/>
            <p:nvPr/>
          </p:nvSpPr>
          <p:spPr>
            <a:xfrm>
              <a:off x="5486400" y="4069080"/>
              <a:ext cx="7040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Virus</a:t>
              </a:r>
              <a:endParaRPr lang="en-US" sz="770" dirty="0"/>
            </a:p>
          </p:txBody>
        </p:sp>
        <p:sp>
          <p:nvSpPr>
            <p:cNvPr id="122" name="Text 120"/>
            <p:cNvSpPr/>
            <p:nvPr/>
          </p:nvSpPr>
          <p:spPr>
            <a:xfrm>
              <a:off x="5486400" y="5120640"/>
              <a:ext cx="7040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Gusanos</a:t>
              </a:r>
              <a:endParaRPr lang="en-US" sz="770" dirty="0"/>
            </a:p>
          </p:txBody>
        </p:sp>
        <p:sp>
          <p:nvSpPr>
            <p:cNvPr id="123" name="Text 121"/>
            <p:cNvSpPr/>
            <p:nvPr/>
          </p:nvSpPr>
          <p:spPr>
            <a:xfrm>
              <a:off x="5486400" y="6172200"/>
              <a:ext cx="7040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Troyanos</a:t>
              </a:r>
              <a:endParaRPr lang="en-US" sz="770" dirty="0"/>
            </a:p>
          </p:txBody>
        </p:sp>
        <p:sp>
          <p:nvSpPr>
            <p:cNvPr id="124" name="Text 122"/>
            <p:cNvSpPr/>
            <p:nvPr/>
          </p:nvSpPr>
          <p:spPr>
            <a:xfrm>
              <a:off x="5486400" y="7223760"/>
              <a:ext cx="7040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Spyware</a:t>
              </a:r>
              <a:endParaRPr lang="en-US" sz="770" dirty="0"/>
            </a:p>
          </p:txBody>
        </p:sp>
        <p:sp>
          <p:nvSpPr>
            <p:cNvPr id="125" name="Text 123"/>
            <p:cNvSpPr/>
            <p:nvPr/>
          </p:nvSpPr>
          <p:spPr>
            <a:xfrm>
              <a:off x="5486400" y="8275320"/>
              <a:ext cx="7040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Ransomware</a:t>
              </a:r>
              <a:endParaRPr lang="en-US" sz="770" dirty="0"/>
            </a:p>
          </p:txBody>
        </p:sp>
        <p:sp>
          <p:nvSpPr>
            <p:cNvPr id="126" name="Text 124"/>
            <p:cNvSpPr/>
            <p:nvPr/>
          </p:nvSpPr>
          <p:spPr>
            <a:xfrm>
              <a:off x="5486400" y="9326880"/>
              <a:ext cx="7040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Señales de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posible infección</a:t>
              </a:r>
              <a:endParaRPr lang="en-US" sz="770" dirty="0"/>
            </a:p>
          </p:txBody>
        </p:sp>
        <p:sp>
          <p:nvSpPr>
            <p:cNvPr id="127" name="Text 125"/>
            <p:cNvSpPr/>
            <p:nvPr/>
          </p:nvSpPr>
          <p:spPr>
            <a:xfrm>
              <a:off x="6382512" y="2395728"/>
              <a:ext cx="1371600" cy="1234440"/>
            </a:xfrm>
            <a:prstGeom prst="roundRect">
              <a:avLst>
                <a:gd name="adj" fmla="val 5185"/>
              </a:avLst>
            </a:prstGeom>
            <a:solidFill>
              <a:srgbClr val="009A9A"/>
            </a:solidFill>
            <a:ln w="12700">
              <a:solidFill>
                <a:srgbClr val="008E8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5. Gestión de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seguridad de la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información</a:t>
              </a:r>
              <a:endParaRPr lang="en-US" sz="1020" dirty="0"/>
            </a:p>
          </p:txBody>
        </p:sp>
        <p:sp>
          <p:nvSpPr>
            <p:cNvPr id="128" name="Text 126"/>
            <p:cNvSpPr/>
            <p:nvPr/>
          </p:nvSpPr>
          <p:spPr>
            <a:xfrm>
              <a:off x="6675120" y="406908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Políticas</a:t>
              </a:r>
              <a:endParaRPr lang="en-US" sz="770" dirty="0"/>
            </a:p>
          </p:txBody>
        </p:sp>
        <p:sp>
          <p:nvSpPr>
            <p:cNvPr id="129" name="Text 127"/>
            <p:cNvSpPr/>
            <p:nvPr/>
          </p:nvSpPr>
          <p:spPr>
            <a:xfrm>
              <a:off x="6675120" y="512064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Procedimientos</a:t>
              </a:r>
              <a:endParaRPr lang="en-US" sz="770" dirty="0"/>
            </a:p>
          </p:txBody>
        </p:sp>
        <p:sp>
          <p:nvSpPr>
            <p:cNvPr id="130" name="Text 128"/>
            <p:cNvSpPr/>
            <p:nvPr/>
          </p:nvSpPr>
          <p:spPr>
            <a:xfrm>
              <a:off x="6675120" y="617220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Responsabilidades</a:t>
              </a:r>
              <a:endParaRPr lang="en-US" sz="770" dirty="0"/>
            </a:p>
          </p:txBody>
        </p:sp>
        <p:sp>
          <p:nvSpPr>
            <p:cNvPr id="131" name="Text 129"/>
            <p:cNvSpPr/>
            <p:nvPr/>
          </p:nvSpPr>
          <p:spPr>
            <a:xfrm>
              <a:off x="6675120" y="722376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Controles</a:t>
              </a:r>
              <a:endParaRPr lang="en-US" sz="770" dirty="0"/>
            </a:p>
          </p:txBody>
        </p:sp>
        <p:sp>
          <p:nvSpPr>
            <p:cNvPr id="132" name="Text 130"/>
            <p:cNvSpPr/>
            <p:nvPr/>
          </p:nvSpPr>
          <p:spPr>
            <a:xfrm>
              <a:off x="6675120" y="827532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Evaluación de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riesgos</a:t>
              </a:r>
              <a:endParaRPr lang="en-US" sz="770" dirty="0"/>
            </a:p>
          </p:txBody>
        </p:sp>
        <p:sp>
          <p:nvSpPr>
            <p:cNvPr id="133" name="Text 131"/>
            <p:cNvSpPr/>
            <p:nvPr/>
          </p:nvSpPr>
          <p:spPr>
            <a:xfrm>
              <a:off x="6675120" y="9326880"/>
              <a:ext cx="102412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Mejora continua</a:t>
              </a:r>
              <a:endParaRPr lang="en-US" sz="770" dirty="0"/>
            </a:p>
          </p:txBody>
        </p:sp>
        <p:sp>
          <p:nvSpPr>
            <p:cNvPr id="134" name="Text 132"/>
            <p:cNvSpPr/>
            <p:nvPr/>
          </p:nvSpPr>
          <p:spPr>
            <a:xfrm>
              <a:off x="7891272" y="2395728"/>
              <a:ext cx="1463040" cy="1234440"/>
            </a:xfrm>
            <a:prstGeom prst="roundRect">
              <a:avLst>
                <a:gd name="adj" fmla="val 5185"/>
              </a:avLst>
            </a:prstGeom>
            <a:solidFill>
              <a:srgbClr val="009A9A"/>
            </a:solidFill>
            <a:ln w="12700">
              <a:solidFill>
                <a:srgbClr val="008E8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6. Vulnerabilidades</a:t>
              </a:r>
              <a:endParaRPr lang="en-US" sz="1020" dirty="0"/>
            </a:p>
          </p:txBody>
        </p:sp>
        <p:sp>
          <p:nvSpPr>
            <p:cNvPr id="135" name="Text 133"/>
            <p:cNvSpPr/>
            <p:nvPr/>
          </p:nvSpPr>
          <p:spPr>
            <a:xfrm>
              <a:off x="8183880" y="4069080"/>
              <a:ext cx="111556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Tipos</a:t>
              </a:r>
              <a:endParaRPr lang="en-US" sz="770" dirty="0"/>
            </a:p>
          </p:txBody>
        </p:sp>
        <p:sp>
          <p:nvSpPr>
            <p:cNvPr id="136" name="Text 134"/>
            <p:cNvSpPr/>
            <p:nvPr/>
          </p:nvSpPr>
          <p:spPr>
            <a:xfrm>
              <a:off x="8494776" y="5120640"/>
              <a:ext cx="79552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Software</a:t>
              </a:r>
              <a:endParaRPr lang="en-US" sz="670" dirty="0"/>
            </a:p>
          </p:txBody>
        </p:sp>
        <p:sp>
          <p:nvSpPr>
            <p:cNvPr id="137" name="Text 135"/>
            <p:cNvSpPr/>
            <p:nvPr/>
          </p:nvSpPr>
          <p:spPr>
            <a:xfrm>
              <a:off x="8494776" y="5760720"/>
              <a:ext cx="79552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Configuración</a:t>
              </a:r>
              <a:endParaRPr lang="en-US" sz="670" dirty="0"/>
            </a:p>
          </p:txBody>
        </p:sp>
        <p:sp>
          <p:nvSpPr>
            <p:cNvPr id="138" name="Text 136"/>
            <p:cNvSpPr/>
            <p:nvPr/>
          </p:nvSpPr>
          <p:spPr>
            <a:xfrm>
              <a:off x="8494776" y="6400800"/>
              <a:ext cx="79552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Red</a:t>
              </a:r>
              <a:endParaRPr lang="en-US" sz="670" dirty="0"/>
            </a:p>
          </p:txBody>
        </p:sp>
        <p:sp>
          <p:nvSpPr>
            <p:cNvPr id="139" name="Text 137"/>
            <p:cNvSpPr/>
            <p:nvPr/>
          </p:nvSpPr>
          <p:spPr>
            <a:xfrm>
              <a:off x="8494776" y="7040880"/>
              <a:ext cx="79552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Físicas</a:t>
              </a:r>
              <a:endParaRPr lang="en-US" sz="670" dirty="0"/>
            </a:p>
          </p:txBody>
        </p:sp>
        <p:sp>
          <p:nvSpPr>
            <p:cNvPr id="140" name="Text 138"/>
            <p:cNvSpPr/>
            <p:nvPr/>
          </p:nvSpPr>
          <p:spPr>
            <a:xfrm>
              <a:off x="8494776" y="7680960"/>
              <a:ext cx="795528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1430">
              <a:solidFill>
                <a:srgbClr val="00559E"/>
              </a:solidFill>
            </a:ln>
          </p:spPr>
          <p:txBody>
            <a:bodyPr wrap="square" lIns="445" tIns="445" rIns="445" bIns="44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Humanas y</a:t>
              </a:r>
              <a:endParaRPr lang="en-US" sz="670" dirty="0"/>
            </a:p>
            <a:p>
              <a:pPr marL="0" indent="0" algn="ctr">
                <a:buNone/>
              </a:pPr>
              <a:r>
                <a:rPr lang="en-US" sz="6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organizacionales</a:t>
              </a:r>
              <a:endParaRPr lang="en-US" sz="670" dirty="0"/>
            </a:p>
          </p:txBody>
        </p:sp>
        <p:sp>
          <p:nvSpPr>
            <p:cNvPr id="141" name="Text 139"/>
            <p:cNvSpPr/>
            <p:nvPr/>
          </p:nvSpPr>
          <p:spPr>
            <a:xfrm>
              <a:off x="8183880" y="8430768"/>
              <a:ext cx="111556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Identificación</a:t>
              </a:r>
              <a:endParaRPr lang="en-US" sz="770" dirty="0"/>
            </a:p>
          </p:txBody>
        </p:sp>
        <p:sp>
          <p:nvSpPr>
            <p:cNvPr id="142" name="Text 140"/>
            <p:cNvSpPr/>
            <p:nvPr/>
          </p:nvSpPr>
          <p:spPr>
            <a:xfrm>
              <a:off x="8183880" y="9482328"/>
              <a:ext cx="111556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Exploración</a:t>
              </a:r>
              <a:endParaRPr lang="en-US" sz="770" dirty="0"/>
            </a:p>
          </p:txBody>
        </p:sp>
        <p:sp>
          <p:nvSpPr>
            <p:cNvPr id="143" name="Text 141"/>
            <p:cNvSpPr/>
            <p:nvPr/>
          </p:nvSpPr>
          <p:spPr>
            <a:xfrm>
              <a:off x="8183880" y="10533888"/>
              <a:ext cx="111556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Validación</a:t>
              </a:r>
              <a:endParaRPr lang="en-US" sz="770" dirty="0"/>
            </a:p>
          </p:txBody>
        </p:sp>
        <p:sp>
          <p:nvSpPr>
            <p:cNvPr id="144" name="Text 142"/>
            <p:cNvSpPr/>
            <p:nvPr/>
          </p:nvSpPr>
          <p:spPr>
            <a:xfrm>
              <a:off x="8183880" y="11585448"/>
              <a:ext cx="111556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Clasificación</a:t>
              </a:r>
              <a:endParaRPr lang="en-US" sz="770" dirty="0"/>
            </a:p>
          </p:txBody>
        </p:sp>
        <p:sp>
          <p:nvSpPr>
            <p:cNvPr id="145" name="Text 143"/>
            <p:cNvSpPr/>
            <p:nvPr/>
          </p:nvSpPr>
          <p:spPr>
            <a:xfrm>
              <a:off x="8183880" y="12637008"/>
              <a:ext cx="111556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Priorización</a:t>
              </a:r>
              <a:endParaRPr lang="en-US" sz="770" dirty="0"/>
            </a:p>
          </p:txBody>
        </p:sp>
        <p:sp>
          <p:nvSpPr>
            <p:cNvPr id="146" name="Text 144"/>
            <p:cNvSpPr/>
            <p:nvPr/>
          </p:nvSpPr>
          <p:spPr>
            <a:xfrm>
              <a:off x="9491472" y="2395728"/>
              <a:ext cx="1280160" cy="1234440"/>
            </a:xfrm>
            <a:prstGeom prst="roundRect">
              <a:avLst>
                <a:gd name="adj" fmla="val 5185"/>
              </a:avLst>
            </a:prstGeom>
            <a:solidFill>
              <a:srgbClr val="009A9A"/>
            </a:solidFill>
            <a:ln w="12700">
              <a:solidFill>
                <a:srgbClr val="008E8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7. Amenazas</a:t>
              </a:r>
              <a:endParaRPr lang="en-US" sz="1020" dirty="0"/>
            </a:p>
          </p:txBody>
        </p:sp>
        <p:sp>
          <p:nvSpPr>
            <p:cNvPr id="147" name="Text 145"/>
            <p:cNvSpPr/>
            <p:nvPr/>
          </p:nvSpPr>
          <p:spPr>
            <a:xfrm>
              <a:off x="9784080" y="4069080"/>
              <a:ext cx="9326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Externas</a:t>
              </a:r>
              <a:endParaRPr lang="en-US" sz="770" dirty="0"/>
            </a:p>
          </p:txBody>
        </p:sp>
        <p:sp>
          <p:nvSpPr>
            <p:cNvPr id="148" name="Text 146"/>
            <p:cNvSpPr/>
            <p:nvPr/>
          </p:nvSpPr>
          <p:spPr>
            <a:xfrm>
              <a:off x="9784080" y="5120640"/>
              <a:ext cx="9326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Internas</a:t>
              </a:r>
              <a:endParaRPr lang="en-US" sz="770" dirty="0"/>
            </a:p>
          </p:txBody>
        </p:sp>
        <p:sp>
          <p:nvSpPr>
            <p:cNvPr id="149" name="Text 147"/>
            <p:cNvSpPr/>
            <p:nvPr/>
          </p:nvSpPr>
          <p:spPr>
            <a:xfrm>
              <a:off x="9784080" y="6172200"/>
              <a:ext cx="9326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Intencionales</a:t>
              </a:r>
              <a:endParaRPr lang="en-US" sz="770" dirty="0"/>
            </a:p>
          </p:txBody>
        </p:sp>
        <p:sp>
          <p:nvSpPr>
            <p:cNvPr id="150" name="Text 148"/>
            <p:cNvSpPr/>
            <p:nvPr/>
          </p:nvSpPr>
          <p:spPr>
            <a:xfrm>
              <a:off x="9784080" y="7223760"/>
              <a:ext cx="9326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Accidentales</a:t>
              </a:r>
              <a:endParaRPr lang="en-US" sz="770" dirty="0"/>
            </a:p>
          </p:txBody>
        </p:sp>
        <p:sp>
          <p:nvSpPr>
            <p:cNvPr id="151" name="Text 149"/>
            <p:cNvSpPr/>
            <p:nvPr/>
          </p:nvSpPr>
          <p:spPr>
            <a:xfrm>
              <a:off x="9784080" y="8275320"/>
              <a:ext cx="9326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Técnicas</a:t>
              </a:r>
              <a:endParaRPr lang="en-US" sz="770" dirty="0"/>
            </a:p>
          </p:txBody>
        </p:sp>
        <p:sp>
          <p:nvSpPr>
            <p:cNvPr id="152" name="Text 150"/>
            <p:cNvSpPr/>
            <p:nvPr/>
          </p:nvSpPr>
          <p:spPr>
            <a:xfrm>
              <a:off x="9784080" y="9326880"/>
              <a:ext cx="9326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Físicas</a:t>
              </a:r>
              <a:endParaRPr lang="en-US" sz="770" dirty="0"/>
            </a:p>
          </p:txBody>
        </p:sp>
        <p:sp>
          <p:nvSpPr>
            <p:cNvPr id="153" name="Text 151"/>
            <p:cNvSpPr/>
            <p:nvPr/>
          </p:nvSpPr>
          <p:spPr>
            <a:xfrm>
              <a:off x="9784080" y="10378440"/>
              <a:ext cx="93268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Modelado de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amenazas</a:t>
              </a:r>
              <a:endParaRPr lang="en-US" sz="770" dirty="0"/>
            </a:p>
          </p:txBody>
        </p:sp>
        <p:sp>
          <p:nvSpPr>
            <p:cNvPr id="154" name="Text 152"/>
            <p:cNvSpPr/>
            <p:nvPr/>
          </p:nvSpPr>
          <p:spPr>
            <a:xfrm>
              <a:off x="10908792" y="2395728"/>
              <a:ext cx="1417320" cy="1234440"/>
            </a:xfrm>
            <a:prstGeom prst="roundRect">
              <a:avLst>
                <a:gd name="adj" fmla="val 5185"/>
              </a:avLst>
            </a:prstGeom>
            <a:solidFill>
              <a:srgbClr val="009A9A"/>
            </a:solidFill>
            <a:ln w="12700">
              <a:solidFill>
                <a:srgbClr val="008E8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8. Ingeniería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social</a:t>
              </a:r>
              <a:endParaRPr lang="en-US" sz="1020" dirty="0"/>
            </a:p>
          </p:txBody>
        </p:sp>
        <p:sp>
          <p:nvSpPr>
            <p:cNvPr id="155" name="Text 153"/>
            <p:cNvSpPr/>
            <p:nvPr/>
          </p:nvSpPr>
          <p:spPr>
            <a:xfrm>
              <a:off x="11201400" y="4069080"/>
              <a:ext cx="10698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Recopilación de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información</a:t>
              </a:r>
              <a:endParaRPr lang="en-US" sz="770" dirty="0"/>
            </a:p>
          </p:txBody>
        </p:sp>
        <p:sp>
          <p:nvSpPr>
            <p:cNvPr id="156" name="Text 154"/>
            <p:cNvSpPr/>
            <p:nvPr/>
          </p:nvSpPr>
          <p:spPr>
            <a:xfrm>
              <a:off x="11201400" y="5120640"/>
              <a:ext cx="10698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Construcción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 pretexto</a:t>
              </a:r>
              <a:endParaRPr lang="en-US" sz="770" dirty="0"/>
            </a:p>
          </p:txBody>
        </p:sp>
        <p:sp>
          <p:nvSpPr>
            <p:cNvPr id="157" name="Text 155"/>
            <p:cNvSpPr/>
            <p:nvPr/>
          </p:nvSpPr>
          <p:spPr>
            <a:xfrm>
              <a:off x="11201400" y="6172200"/>
              <a:ext cx="10698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Contacto</a:t>
              </a:r>
              <a:endParaRPr lang="en-US" sz="770" dirty="0"/>
            </a:p>
          </p:txBody>
        </p:sp>
        <p:sp>
          <p:nvSpPr>
            <p:cNvPr id="158" name="Text 156"/>
            <p:cNvSpPr/>
            <p:nvPr/>
          </p:nvSpPr>
          <p:spPr>
            <a:xfrm>
              <a:off x="11201400" y="7223760"/>
              <a:ext cx="10698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Acción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solicitada</a:t>
              </a:r>
              <a:endParaRPr lang="en-US" sz="770" dirty="0"/>
            </a:p>
          </p:txBody>
        </p:sp>
        <p:sp>
          <p:nvSpPr>
            <p:cNvPr id="159" name="Text 157"/>
            <p:cNvSpPr/>
            <p:nvPr/>
          </p:nvSpPr>
          <p:spPr>
            <a:xfrm>
              <a:off x="11201400" y="8275320"/>
              <a:ext cx="10698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Phishing</a:t>
              </a:r>
              <a:endParaRPr lang="en-US" sz="770" dirty="0"/>
            </a:p>
          </p:txBody>
        </p:sp>
        <p:sp>
          <p:nvSpPr>
            <p:cNvPr id="160" name="Text 158"/>
            <p:cNvSpPr/>
            <p:nvPr/>
          </p:nvSpPr>
          <p:spPr>
            <a:xfrm>
              <a:off x="11201400" y="9326880"/>
              <a:ext cx="10698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Smishing</a:t>
              </a:r>
              <a:endParaRPr lang="en-US" sz="770" dirty="0"/>
            </a:p>
          </p:txBody>
        </p:sp>
        <p:sp>
          <p:nvSpPr>
            <p:cNvPr id="161" name="Text 159"/>
            <p:cNvSpPr/>
            <p:nvPr/>
          </p:nvSpPr>
          <p:spPr>
            <a:xfrm>
              <a:off x="11201400" y="10378440"/>
              <a:ext cx="10698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Vishing</a:t>
              </a:r>
              <a:endParaRPr lang="en-US" sz="770" dirty="0"/>
            </a:p>
          </p:txBody>
        </p:sp>
        <p:sp>
          <p:nvSpPr>
            <p:cNvPr id="162" name="Text 160"/>
            <p:cNvSpPr/>
            <p:nvPr/>
          </p:nvSpPr>
          <p:spPr>
            <a:xfrm>
              <a:off x="11201400" y="11430000"/>
              <a:ext cx="1069848" cy="667512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2700">
              <a:solidFill>
                <a:srgbClr val="00559E"/>
              </a:solidFill>
            </a:ln>
          </p:spPr>
          <p:txBody>
            <a:bodyPr wrap="square" lIns="572" tIns="572" rIns="572" bIns="57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Prevención y</a:t>
              </a:r>
              <a:endParaRPr lang="en-US" sz="770" dirty="0"/>
            </a:p>
            <a:p>
              <a:pPr marL="0" indent="0" algn="ctr">
                <a:buNone/>
              </a:pPr>
              <a:r>
                <a:rPr lang="en-US" sz="770" dirty="0">
                  <a:solidFill>
                    <a:srgbClr val="10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reporte</a:t>
              </a:r>
              <a:endParaRPr lang="en-US" sz="77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5252A1EF3BD024F856B47B579AB5244" ma:contentTypeVersion="11" ma:contentTypeDescription="Crear nuevo documento." ma:contentTypeScope="" ma:versionID="92b81066167b779aaeee7a3d91bad2fd">
  <xsd:schema xmlns:xsd="http://www.w3.org/2001/XMLSchema" xmlns:xs="http://www.w3.org/2001/XMLSchema" xmlns:p="http://schemas.microsoft.com/office/2006/metadata/properties" xmlns:ns2="42760c81-fd8e-4d59-8953-7cdb9f38b14f" xmlns:ns3="67a0edcd-0de5-43ed-8c27-e32f38a00c91" targetNamespace="http://schemas.microsoft.com/office/2006/metadata/properties" ma:root="true" ma:fieldsID="83cd6766d967e870b9368cac1ade74e6" ns2:_="" ns3:_="">
    <xsd:import namespace="42760c81-fd8e-4d59-8953-7cdb9f38b14f"/>
    <xsd:import namespace="67a0edcd-0de5-43ed-8c27-e32f38a00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760c81-fd8e-4d59-8953-7cdb9f38b1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0edcd-0de5-43ed-8c27-e32f38a00c9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a3f4dd0-997b-4bf3-ab2c-d58d0ea4cbc8}" ma:internalName="TaxCatchAll" ma:showField="CatchAllData" ma:web="67a0edcd-0de5-43ed-8c27-e32f38a00c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760c81-fd8e-4d59-8953-7cdb9f38b14f">
      <Terms xmlns="http://schemas.microsoft.com/office/infopath/2007/PartnerControls"/>
    </lcf76f155ced4ddcb4097134ff3c332f>
    <TaxCatchAll xmlns="67a0edcd-0de5-43ed-8c27-e32f38a00c91" xsi:nil="true"/>
  </documentManagement>
</p:properties>
</file>

<file path=customXml/itemProps1.xml><?xml version="1.0" encoding="utf-8"?>
<ds:datastoreItem xmlns:ds="http://schemas.openxmlformats.org/officeDocument/2006/customXml" ds:itemID="{7CFACC4F-8C49-46F4-90F2-23EBD50C3CDA}"/>
</file>

<file path=customXml/itemProps2.xml><?xml version="1.0" encoding="utf-8"?>
<ds:datastoreItem xmlns:ds="http://schemas.openxmlformats.org/officeDocument/2006/customXml" ds:itemID="{BEAB1D57-B47E-48CD-8C8F-4964079F5E6A}"/>
</file>

<file path=customXml/itemProps3.xml><?xml version="1.0" encoding="utf-8"?>
<ds:datastoreItem xmlns:ds="http://schemas.openxmlformats.org/officeDocument/2006/customXml" ds:itemID="{CA4AC818-9FC7-4C01-AD71-CC296FA4F154}"/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154</Words>
  <Application>Microsoft Office PowerPoint</Application>
  <PresentationFormat>Personalizado</PresentationFormat>
  <Paragraphs>97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de vulnerabilidades y amenazas de ciberseguridad</dc:title>
  <dc:subject>Mapa conceptual editable</dc:subject>
  <dc:creator>OpenAI</dc:creator>
  <cp:lastModifiedBy>licencias321@i365.top</cp:lastModifiedBy>
  <cp:revision>2</cp:revision>
  <dcterms:created xsi:type="dcterms:W3CDTF">2026-06-08T23:41:15Z</dcterms:created>
  <dcterms:modified xsi:type="dcterms:W3CDTF">2026-06-09T01:16:08Z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0x01010005252A1EF3BD024F856B47B579AB5244</vt:lpwstr>
  </property>
</Properties>
</file>